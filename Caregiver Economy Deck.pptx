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292608"/>
            <a:ext cx="5303520" cy="256032"/>
          </a:xfrm>
          <a:prstGeom prst="roundRect">
            <a:avLst>
              <a:gd name="adj" fmla="val 6000"/>
            </a:avLst>
          </a:prstGeom>
          <a:solidFill>
            <a:srgbClr val="182850"/>
          </a:solidFill>
          <a:ln w="6350">
            <a:solidFill>
              <a:srgbClr val="1E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200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AA"/>
                </a:solidFill>
                <a:latin typeface="Calibri"/>
              </a:rPr>
              <a:t>SUNCOAST VENTURES  ·  FUND II CARE ECONOMY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5509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27D39"/>
                </a:solidFill>
                <a:latin typeface="Calibri"/>
              </a:rPr>
              <a:t>THE HIDDEN ECONOMY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9264"/>
            <a:ext cx="1105509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>
                <a:solidFill>
                  <a:srgbClr val="FFFFFF"/>
                </a:solidFill>
                <a:latin typeface="Georgia"/>
              </a:rPr>
              <a:t>The Caregiver Economy.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57860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Calibri"/>
              </a:rPr>
              <a:t>Bigger than Medicaid. Funded like a side project.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273552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3392424"/>
            <a:ext cx="2295144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Unpaid Care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566160"/>
            <a:ext cx="2295144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BA43E"/>
                </a:solidFill>
                <a:latin typeface="Georgia"/>
              </a:rPr>
              <a:t>$1.6T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986784"/>
            <a:ext cx="229514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Opportunity cost of 53B annual unpaid hours — invisible to GDP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6" y="3273552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3392424"/>
            <a:ext cx="2295144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Caregiver Workforce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3566160"/>
            <a:ext cx="2295144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BA43E"/>
                </a:solidFill>
                <a:latin typeface="Georgia"/>
              </a:rPr>
              <a:t>63M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3986784"/>
            <a:ext cx="229514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Americans providing unpaid care — larger than many full-time workforce sectors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3273552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3392424"/>
            <a:ext cx="2295144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Household Burden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66160"/>
            <a:ext cx="2295144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BA43E"/>
                </a:solidFill>
                <a:latin typeface="Georgia"/>
              </a:rPr>
              <a:t>$1.4T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3986784"/>
            <a:ext cx="229514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Annual direct economic loss to caregiver households nationwide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3273552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3392424"/>
            <a:ext cx="2295144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Employer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566160"/>
            <a:ext cx="2295144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27D39"/>
                </a:solidFill>
                <a:latin typeface="Georgia"/>
              </a:rPr>
              <a:t>5.3×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986784"/>
            <a:ext cx="229514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Return on caregiver support investment — only 13% of employers offer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509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27D39"/>
                </a:solidFill>
                <a:latin typeface="Calibri"/>
              </a:rPr>
              <a:t>THE RESEARCH BASE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24128"/>
            <a:ext cx="3575304" cy="54864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79576"/>
            <a:ext cx="3246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E27D39"/>
                </a:solidFill>
                <a:latin typeface="Calibri"/>
              </a:rPr>
              <a:t>PAPER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08176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Georgia"/>
              </a:rPr>
              <a:t>Repricing the Caregiver Economy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29968"/>
            <a:ext cx="3246120" cy="7620"/>
          </a:xfrm>
          <a:prstGeom prst="rect">
            <a:avLst/>
          </a:prstGeom>
          <a:solidFill>
            <a:srgbClr val="2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3246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  <a:latin typeface="Calibri"/>
              </a:rPr>
              <a:t>Quantifies the $1.6T opportunity cost of 53.0B unpaid hours. Introduces DAC methodology and Stromberg multipliers. First published application of WEP decomposition to caregiver productivity.
Method: opportunity cost of foregone income, labor force participation, and retirement accumulation applied across 63M caregivers.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024128"/>
            <a:ext cx="3575304" cy="54864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179576"/>
            <a:ext cx="3246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E27D39"/>
                </a:solidFill>
                <a:latin typeface="Calibri"/>
              </a:rPr>
              <a:t>PAPER II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408176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Georgia"/>
              </a:rPr>
              <a:t>The Hidden Multiplier: Coordination Burden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029968"/>
            <a:ext cx="3246120" cy="7620"/>
          </a:xfrm>
          <a:prstGeom prst="rect">
            <a:avLst/>
          </a:prstGeom>
          <a:solidFill>
            <a:srgbClr val="2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121408"/>
            <a:ext cx="3246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  <a:latin typeface="Calibri"/>
              </a:rPr>
              <a:t>Isolates coordination hours — scheduling, logistics, provider communication — from direct care hours.
Women: 296 hrs/yr = $8,907 opportunity cost (37 workdays)
Men: 194 hrs/yr = $5,837 opportunity cost (24 workdays)
Gap: 102 hrs = $3,070/yr = 13 workdays
Blended rate: $30.09/hr · BLS ATUS 2023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024128"/>
            <a:ext cx="3575304" cy="54864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179576"/>
            <a:ext cx="3246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E27D39"/>
                </a:solidFill>
                <a:latin typeface="Calibri"/>
              </a:rPr>
              <a:t>PAPER III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408176"/>
            <a:ext cx="3246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Georgia"/>
              </a:rPr>
              <a:t>Systemic Inefficiency and Caregiver Infrastructure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029968"/>
            <a:ext cx="3246120" cy="7620"/>
          </a:xfrm>
          <a:prstGeom prst="rect">
            <a:avLst/>
          </a:prstGeom>
          <a:solidFill>
            <a:srgbClr val="2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21408"/>
            <a:ext cx="32461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  <a:latin typeface="Calibri"/>
              </a:rPr>
              <a:t>Maps the federal funding landscape — $244.8M NFCSP against $1.6T burden = 0.015% coverage.
The GUIDE model as the first reimbursement bridge from caregiving burden to paid care coordination. Structural case for infrastructure investment and employer ROI at 5.3× per $1 invested.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509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27D39"/>
                </a:solidFill>
                <a:latin typeface="Calibri"/>
              </a:rPr>
              <a:t>MARKET SCALE  ·  PAPER 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24128"/>
            <a:ext cx="3575304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Minimum Wage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672D7"/>
                </a:solidFill>
                <a:latin typeface="Georgia"/>
              </a:rPr>
              <a:t>~$384B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37360"/>
            <a:ext cx="326440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Federal minimum wage applied to all 53.0B hours — the absolute lower bound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024128"/>
            <a:ext cx="3575304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Replacement Cost (AARP)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48B2A"/>
                </a:solidFill>
                <a:latin typeface="Georgia"/>
              </a:rPr>
              <a:t>$1.01T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737360"/>
            <a:ext cx="326440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Professional caregiver wage rate — values the replacement worker, not the caregiver's loss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024128"/>
            <a:ext cx="3575304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Opportunity Cost · This 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BA43E"/>
                </a:solidFill>
                <a:latin typeface="Georgia"/>
              </a:rPr>
              <a:t>$1.6T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1737360"/>
            <a:ext cx="326440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What caregivers actually forgo: income, labor participation, retirement accumulation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017520"/>
            <a:ext cx="11055096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CAREGIVING VALUE BY METHODOLOGY  ·  $ BILLIONS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31927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Minimum Wage Floor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11296" y="3291840"/>
            <a:ext cx="1197971" cy="274320"/>
          </a:xfrm>
          <a:prstGeom prst="roundRect">
            <a:avLst>
              <a:gd name="adj" fmla="val 12000"/>
            </a:avLst>
          </a:prstGeom>
          <a:solidFill>
            <a:srgbClr val="367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45843" y="33192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$384B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2160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Replacement Cost (AARP)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11296" y="3694176"/>
            <a:ext cx="3150914" cy="274320"/>
          </a:xfrm>
          <a:prstGeom prst="roundRect">
            <a:avLst>
              <a:gd name="adj" fmla="val 12000"/>
            </a:avLst>
          </a:prstGeom>
          <a:solidFill>
            <a:srgbClr val="D4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8786" y="372160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$1.01T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123944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Opportunity Cost (This Thesis)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11296" y="4096512"/>
            <a:ext cx="4991548" cy="274320"/>
          </a:xfrm>
          <a:prstGeom prst="roundRect">
            <a:avLst>
              <a:gd name="adj" fmla="val 12000"/>
            </a:avLst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9420" y="4123944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$1.6T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509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27D39"/>
                </a:solidFill>
                <a:latin typeface="Calibri"/>
              </a:rPr>
              <a:t>CAREGIVER WORKFORCE  ·  PAPER 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24128"/>
            <a:ext cx="3575304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Total Caregivers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BA43E"/>
                </a:solidFill>
                <a:latin typeface="Georgia"/>
              </a:rPr>
              <a:t>63M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37360"/>
            <a:ext cx="326440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U.S. adults providing unpaid care to a family member or friend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024128"/>
            <a:ext cx="3575304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Employed Caregivers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672D7"/>
                </a:solidFill>
                <a:latin typeface="Georgia"/>
              </a:rPr>
              <a:t>38.4M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737360"/>
            <a:ext cx="326440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Working while providing care — the full employer-side exposure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024128"/>
            <a:ext cx="3575304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Work Disruptions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27D39"/>
                </a:solidFill>
                <a:latin typeface="Georgia"/>
              </a:rPr>
              <a:t>19.2M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1737360"/>
            <a:ext cx="326440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Reduced hours, missed days, or career exits directly attributed to caregiving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017520"/>
            <a:ext cx="11055096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THE CAREGIVER FUNNEL  ·  MILLIONS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3192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All Caregivers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71216" y="3291840"/>
            <a:ext cx="6172200" cy="274320"/>
          </a:xfrm>
          <a:prstGeom prst="roundRect">
            <a:avLst>
              <a:gd name="adj" fmla="val 12000"/>
            </a:avLst>
          </a:prstGeom>
          <a:solidFill>
            <a:srgbClr val="367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9992" y="33192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63M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307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Employed Caregivers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71216" y="3703320"/>
            <a:ext cx="3762102" cy="274320"/>
          </a:xfrm>
          <a:prstGeom prst="roundRect">
            <a:avLst>
              <a:gd name="adj" fmla="val 12000"/>
            </a:avLst>
          </a:prstGeom>
          <a:solidFill>
            <a:srgbClr val="224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9894" y="3730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38.4M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142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Facing Work Disruptions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71216" y="4114800"/>
            <a:ext cx="1881051" cy="274320"/>
          </a:xfrm>
          <a:prstGeom prst="roundRect">
            <a:avLst>
              <a:gd name="adj" fmla="val 12000"/>
            </a:avLst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8843" y="414223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19.2M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509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27D39"/>
                </a:solidFill>
                <a:latin typeface="Calibri"/>
              </a:rPr>
              <a:t>THE CAREGIVER TOLL  ·  PAPERS I–II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24128"/>
            <a:ext cx="3575304" cy="292608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Income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BA43E"/>
                </a:solidFill>
                <a:latin typeface="Georgia"/>
              </a:rPr>
              <a:t>$11,549/yr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37360"/>
            <a:ext cx="3264408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Per-caregiver income foregone: reduced hours, career interruptions, and labor force exits valued at opportunity cost.
BLS/ATUS 2023  ·  CPI-adj. 2024$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024128"/>
            <a:ext cx="3575304" cy="292608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Out-of-Pocket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27D39"/>
                </a:solidFill>
                <a:latin typeface="Georgia"/>
              </a:rPr>
              <a:t>$10,093/yr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737360"/>
            <a:ext cx="3264408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Direct household spending on care services, supplies, and coordination not covered by insurance.
AARP/NAC 2020  ·  CPI-adj. 2024$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024128"/>
            <a:ext cx="3575304" cy="292608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Employer Spillover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672D7"/>
                </a:solidFill>
                <a:latin typeface="Georgia"/>
              </a:rPr>
              <a:t>$6,800/yr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1737360"/>
            <a:ext cx="3264408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Per-employee productivity loss: absenteeism, presenteeism, and unplanned turnover borne by employers annually.
AARP/NAC 2020  ·  Repricing the Caregiver Economy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69664"/>
            <a:ext cx="11055096" cy="1810512"/>
          </a:xfrm>
          <a:prstGeom prst="roundRect">
            <a:avLst>
              <a:gd name="adj" fmla="val 6000"/>
            </a:avLst>
          </a:prstGeom>
          <a:solidFill>
            <a:srgbClr val="18263E"/>
          </a:solidFill>
          <a:ln w="8255">
            <a:solidFill>
              <a:srgbClr val="3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297680"/>
            <a:ext cx="182880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EBA43E"/>
                </a:solidFill>
                <a:latin typeface="Calibri"/>
              </a:rPr>
              <a:t>AGGREGATE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535424"/>
            <a:ext cx="1068933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Calibri"/>
              </a:rPr>
              <a:t>$11,549 + $10,093  ×  63.0M caregivers  =  $1.4T in annual household burden — before counting the $6,800 employer-side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509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27D39"/>
                </a:solidFill>
                <a:latin typeface="Calibri"/>
              </a:rPr>
              <a:t>COORDINATION ECONOMY  ·  PAPER 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24128"/>
            <a:ext cx="5367528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143000"/>
            <a:ext cx="5056632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Women · Annual Burden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316736"/>
            <a:ext cx="5056632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27D39"/>
                </a:solidFill>
                <a:latin typeface="Georgia"/>
              </a:rPr>
              <a:t>296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37360"/>
            <a:ext cx="505663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= $8,907 in opportunity cost  ·  equivalent to 37 full workdays per year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024128"/>
            <a:ext cx="5367528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143000"/>
            <a:ext cx="5056632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Men · Annual Burden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316736"/>
            <a:ext cx="5056632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672D7"/>
                </a:solidFill>
                <a:latin typeface="Georgia"/>
              </a:rPr>
              <a:t>194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504" y="1737360"/>
            <a:ext cx="505663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= $5,837 in opportunity cost  ·  equivalent to 24 full workdays per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17520"/>
            <a:ext cx="11055096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UNPAID COORDINATION HOURS BY GENDER  ·  ANNUAL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31927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Women  ·  37 workdays/yr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1216" y="3291840"/>
            <a:ext cx="5572461" cy="274320"/>
          </a:xfrm>
          <a:prstGeom prst="roundRect">
            <a:avLst>
              <a:gd name="adj" fmla="val 12000"/>
            </a:avLst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0253" y="33192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296 hrs  ·  $8,907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39896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Men  ·  24 workdays/yr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71216" y="3712464"/>
            <a:ext cx="3652221" cy="274320"/>
          </a:xfrm>
          <a:prstGeom prst="roundRect">
            <a:avLst>
              <a:gd name="adj" fmla="val 12000"/>
            </a:avLst>
          </a:prstGeom>
          <a:solidFill>
            <a:srgbClr val="224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0013" y="373989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194 hrs  ·  $5,837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60013" y="3236976"/>
            <a:ext cx="1883664" cy="877824"/>
          </a:xfrm>
          <a:prstGeom prst="roundRect">
            <a:avLst>
              <a:gd name="adj" fmla="val 8000"/>
            </a:avLst>
          </a:prstGeom>
          <a:solidFill>
            <a:srgbClr val="2A1808"/>
          </a:solidFill>
          <a:ln w="6350">
            <a:solidFill>
              <a:srgbClr val="E27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4877" y="3520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27D39"/>
                </a:solidFill>
                <a:latin typeface="Calibri"/>
              </a:rPr>
              <a:t>+ 102 hrs  = $3,070/yr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509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27D39"/>
                </a:solidFill>
                <a:latin typeface="Calibri"/>
              </a:rPr>
              <a:t>INFRASTRUCTURE GAP  ·  PAPERS I–III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24128"/>
            <a:ext cx="5367528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143000"/>
            <a:ext cx="5056632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NFCSP Authorization · FY2024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316736"/>
            <a:ext cx="5056632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672D7"/>
                </a:solidFill>
                <a:latin typeface="Georgia"/>
              </a:rPr>
              <a:t>$244.8M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37360"/>
            <a:ext cx="505663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Primary federal caregiver support grant (OAA Title III-E)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024128"/>
            <a:ext cx="5367528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143000"/>
            <a:ext cx="5056632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Unpaid Care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316736"/>
            <a:ext cx="5056632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BA43E"/>
                </a:solidFill>
                <a:latin typeface="Georgia"/>
              </a:rPr>
              <a:t>$1.6T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504" y="1737360"/>
            <a:ext cx="505663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$1 federal for every $6,536 of burden — a 6,536-to-1 funding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17520"/>
            <a:ext cx="11055096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FEDERAL PROGRAMS vs. UNPAID CARE VALUE  ·  LOG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319272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NFCSP  FY2024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54096" y="3291840"/>
            <a:ext cx="3344733" cy="274320"/>
          </a:xfrm>
          <a:prstGeom prst="roundRect">
            <a:avLst>
              <a:gd name="adj" fmla="val 12000"/>
            </a:avLst>
          </a:prstGeom>
          <a:solidFill>
            <a:srgbClr val="367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5405" y="33192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$244.8M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12464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NIA Budget  FY2023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54096" y="3685032"/>
            <a:ext cx="5103095" cy="274320"/>
          </a:xfrm>
          <a:prstGeom prst="roundRect">
            <a:avLst>
              <a:gd name="adj" fmla="val 12000"/>
            </a:avLst>
          </a:prstGeom>
          <a:solidFill>
            <a:srgbClr val="224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767" y="3712464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$4.4B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105656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NIH AD/ADRD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54096" y="4078224"/>
            <a:ext cx="5004238" cy="274320"/>
          </a:xfrm>
          <a:prstGeom prst="roundRect">
            <a:avLst>
              <a:gd name="adj" fmla="val 12000"/>
            </a:avLst>
          </a:prstGeom>
          <a:solidFill>
            <a:srgbClr val="2E5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4910" y="410565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$3.75B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98848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Unpaid Care Value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54096" y="4471416"/>
            <a:ext cx="8686800" cy="274320"/>
          </a:xfrm>
          <a:prstGeom prst="roundRect">
            <a:avLst>
              <a:gd name="adj" fmla="val 12000"/>
            </a:avLst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77472" y="44988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$1.6T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509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27D39"/>
                </a:solidFill>
                <a:latin typeface="Calibri"/>
              </a:rPr>
              <a:t>FEDERAL MOMENTUM  ·  PAPER III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24128"/>
            <a:ext cx="3575304" cy="32004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GUIDE Model  ·  CMS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BA43E"/>
                </a:solidFill>
                <a:latin typeface="Georgia"/>
              </a:rPr>
              <a:t>$735M–$1.47B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37360"/>
            <a:ext cx="3264408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First CMS model paying providers to coordinate dementia care at home. ~400 organizations. The first reimbursement bridge from caregiving burden to paid care coordination.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024128"/>
            <a:ext cx="3575304" cy="32004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NFCSP  ·  OAA Title III-E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27D39"/>
                </a:solidFill>
                <a:latin typeface="Georgia"/>
              </a:rPr>
              <a:t>$244.8M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737360"/>
            <a:ext cx="3264408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Primary federal caregiver grant — channeled through state aging agencies to local respite, training, and counseling. Authorized FY2024.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024128"/>
            <a:ext cx="3575304" cy="32004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Older Americans 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672D7"/>
                </a:solidFill>
                <a:latin typeface="Georgia"/>
              </a:rPr>
              <a:t>$2.5B+/yr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1737360"/>
            <a:ext cx="3264408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Total OAA appropriation. Funds delivery networks, mandates a national caregiving strategy, and finances state-level support infrastructure. RAISE Act integrated 2018–present.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288536"/>
            <a:ext cx="11055096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ANNUAL APPROPRIATION / TAM  ·  $ BILLIONS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54456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AAAAAA"/>
                </a:solidFill>
                <a:latin typeface="Calibri"/>
              </a:rPr>
              <a:t>NFCSP (FY2024)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88336" y="4517136"/>
            <a:ext cx="663786" cy="274320"/>
          </a:xfrm>
          <a:prstGeom prst="roundRect">
            <a:avLst>
              <a:gd name="adj" fmla="val 12000"/>
            </a:avLst>
          </a:prstGeom>
          <a:solidFill>
            <a:srgbClr val="367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8698" y="454456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$244.8M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928616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AAAAAA"/>
                </a:solidFill>
                <a:latin typeface="Calibri"/>
              </a:rPr>
              <a:t>GUIDE Model TAM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88336" y="4901184"/>
            <a:ext cx="2980266" cy="274320"/>
          </a:xfrm>
          <a:prstGeom prst="roundRect">
            <a:avLst>
              <a:gd name="adj" fmla="val 12000"/>
            </a:avLst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05178" y="492861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$1.1B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312664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0">
                <a:solidFill>
                  <a:srgbClr val="AAAAAA"/>
                </a:solidFill>
                <a:latin typeface="Calibri"/>
              </a:rPr>
              <a:t>OAA Annual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88336" y="5285232"/>
            <a:ext cx="6773333" cy="274320"/>
          </a:xfrm>
          <a:prstGeom prst="roundRect">
            <a:avLst>
              <a:gd name="adj" fmla="val 12000"/>
            </a:avLst>
          </a:prstGeom>
          <a:solidFill>
            <a:srgbClr val="224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8245" y="5312664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FFFFFF"/>
                </a:solidFill>
                <a:latin typeface="Calibri"/>
              </a:rPr>
              <a:t>$2.5B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509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27D39"/>
                </a:solidFill>
                <a:latin typeface="Calibri"/>
              </a:rPr>
              <a:t>PAYER PATHWAY  ·  PAPER III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24128"/>
            <a:ext cx="5367528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143000"/>
            <a:ext cx="5056632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GUIDE-Eligible Beneficiaries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316736"/>
            <a:ext cx="5056632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BA43E"/>
                </a:solidFill>
                <a:latin typeface="Georgia"/>
              </a:rPr>
              <a:t>3.5M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37360"/>
            <a:ext cx="505663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Medicare beneficiaries with dementia eligible for GUIDE-funded coordination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024128"/>
            <a:ext cx="5367528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143000"/>
            <a:ext cx="5056632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TAM at 20% Penetration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8504" y="1316736"/>
            <a:ext cx="5056632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27D39"/>
                </a:solidFill>
                <a:latin typeface="Georgia"/>
              </a:rPr>
              <a:t>$1.47B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504" y="1737360"/>
            <a:ext cx="5056632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Annual Medicare spend at 20% penetration. Full scenario: $2.2B+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017520"/>
            <a:ext cx="11055096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GUIDE MODEL TAM SCENARIOS  ·  ANNUAL MEDICARE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319272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5% penetration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11296" y="3291840"/>
            <a:ext cx="1024128" cy="274320"/>
          </a:xfrm>
          <a:prstGeom prst="roundRect">
            <a:avLst>
              <a:gd name="adj" fmla="val 12000"/>
            </a:avLst>
          </a:prstGeom>
          <a:solidFill>
            <a:srgbClr val="367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3192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~$368M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12464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10% penetration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3685032"/>
            <a:ext cx="2045473" cy="274320"/>
          </a:xfrm>
          <a:prstGeom prst="roundRect">
            <a:avLst>
              <a:gd name="adj" fmla="val 12000"/>
            </a:avLst>
          </a:prstGeom>
          <a:solidFill>
            <a:srgbClr val="224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93345" y="3712464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$735M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105656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20% penetration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11296" y="4078224"/>
            <a:ext cx="4090946" cy="274320"/>
          </a:xfrm>
          <a:prstGeom prst="roundRect">
            <a:avLst>
              <a:gd name="adj" fmla="val 12000"/>
            </a:avLst>
          </a:prstGeom>
          <a:solidFill>
            <a:srgbClr val="D48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8818" y="410565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$1.47B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98848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30% + Respite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11296" y="4471416"/>
            <a:ext cx="6136419" cy="274320"/>
          </a:xfrm>
          <a:prstGeom prst="roundRect">
            <a:avLst>
              <a:gd name="adj" fmla="val 12000"/>
            </a:avLst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4291" y="4498848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$2.2B+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509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27D39"/>
                </a:solidFill>
                <a:latin typeface="Calibri"/>
              </a:rPr>
              <a:t>ROI CASE  ·  PAPER III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24128"/>
            <a:ext cx="3575304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Employer Annual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BA43E"/>
                </a:solidFill>
                <a:latin typeface="Georgia"/>
              </a:rPr>
              <a:t>$33B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1737360"/>
            <a:ext cx="326440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Productivity loss, absenteeism, and turnover borne by U.S. employers annually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024128"/>
            <a:ext cx="3575304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ROI on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7141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27D39"/>
                </a:solidFill>
                <a:latin typeface="Georgia"/>
              </a:rPr>
              <a:t>5.3×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737360"/>
            <a:ext cx="326440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Return per $1 invested in employer caregiver support. Harvard Business School + this thesis.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024128"/>
            <a:ext cx="3575304" cy="192024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143000"/>
            <a:ext cx="3264408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Current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316736"/>
            <a:ext cx="3264408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672D7"/>
                </a:solidFill>
                <a:latin typeface="Georgia"/>
              </a:rPr>
              <a:t>13%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1737360"/>
            <a:ext cx="326440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AAAAAA"/>
                </a:solidFill>
                <a:latin typeface="Calibri"/>
              </a:rPr>
              <a:t>U.S. employers currently offering dedicated caregiver benefits — 87% white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017520"/>
            <a:ext cx="11055096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ROI COMPARISON  ·  RETURN PER $1 INVESTED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31927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Harvard Business School (2019)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2736" y="3291840"/>
            <a:ext cx="3840480" cy="274320"/>
          </a:xfrm>
          <a:prstGeom prst="roundRect">
            <a:avLst>
              <a:gd name="adj" fmla="val 12000"/>
            </a:avLst>
          </a:prstGeom>
          <a:solidFill>
            <a:srgbClr val="367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331927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2.0–3.6×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739896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Mid-Term Research Consensus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2736" y="3712464"/>
            <a:ext cx="4373879" cy="274320"/>
          </a:xfrm>
          <a:prstGeom prst="roundRect">
            <a:avLst>
              <a:gd name="adj" fmla="val 12000"/>
            </a:avLst>
          </a:prstGeom>
          <a:solidFill>
            <a:srgbClr val="224B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13191" y="373989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2.8–4.1×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1605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AAAAAA"/>
                </a:solidFill>
                <a:latin typeface="Calibri"/>
              </a:rPr>
              <a:t>Caregiver Support (This Thesis)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2736" y="4133088"/>
            <a:ext cx="5654040" cy="274320"/>
          </a:xfrm>
          <a:prstGeom prst="roundRect">
            <a:avLst>
              <a:gd name="adj" fmla="val 12000"/>
            </a:avLst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3352" y="416052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5.3×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509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27D39"/>
                </a:solidFill>
                <a:latin typeface="Calibri"/>
              </a:rPr>
              <a:t>VENTURE CATEGORIES  ·  PART IV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24128"/>
            <a:ext cx="3575304" cy="54864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024128"/>
            <a:ext cx="3575304" cy="54864"/>
          </a:xfrm>
          <a:prstGeom prst="roundRect">
            <a:avLst>
              <a:gd name="adj" fmla="val 50000"/>
            </a:avLst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3246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E27D39"/>
                </a:solidFill>
                <a:latin typeface="Calibri"/>
              </a:rPr>
              <a:t>Care Coordination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26464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BA43E"/>
                </a:solidFill>
                <a:latin typeface="Georgia"/>
              </a:rPr>
              <a:t>$15B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46120" cy="7620"/>
          </a:xfrm>
          <a:prstGeom prst="rect">
            <a:avLst/>
          </a:prstGeom>
          <a:solidFill>
            <a:srgbClr val="2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29968"/>
            <a:ext cx="324612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  <a:latin typeface="Calibri"/>
              </a:rPr>
              <a:t>Scheduling, transportation, provider communication, and continuity management across fragmented systems.
Platform economics with network effects and payer reimbursement tailwinds from GUIDE and OAA expansion.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024128"/>
            <a:ext cx="3575304" cy="54864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15968" y="1024128"/>
            <a:ext cx="3575304" cy="54864"/>
          </a:xfrm>
          <a:prstGeom prst="roundRect">
            <a:avLst>
              <a:gd name="adj" fmla="val 50000"/>
            </a:avLst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188720"/>
            <a:ext cx="3246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E27D39"/>
                </a:solidFill>
                <a:latin typeface="Calibri"/>
              </a:rPr>
              <a:t>AI Continuity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426464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BA43E"/>
                </a:solidFill>
                <a:latin typeface="Georgia"/>
              </a:rPr>
              <a:t>$8B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920240"/>
            <a:ext cx="3246120" cy="7620"/>
          </a:xfrm>
          <a:prstGeom prst="rect">
            <a:avLst/>
          </a:prstGeom>
          <a:solidFill>
            <a:srgbClr val="2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029968"/>
            <a:ext cx="324612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  <a:latin typeface="Calibri"/>
              </a:rPr>
              <a:t>Intelligent systems that reduce cognitive and logistical burden on family caregivers — reminders, documentation, care plans, and provider communication.
First-mover advantage before category definition.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024128"/>
            <a:ext cx="3575304" cy="54864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5008" y="1024128"/>
            <a:ext cx="3575304" cy="54864"/>
          </a:xfrm>
          <a:prstGeom prst="roundRect">
            <a:avLst>
              <a:gd name="adj" fmla="val 50000"/>
            </a:avLst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188720"/>
            <a:ext cx="3246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E27D39"/>
                </a:solidFill>
                <a:latin typeface="Calibri"/>
              </a:rPr>
              <a:t>Employer Caregiver Benefits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426464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EBA43E"/>
                </a:solidFill>
                <a:latin typeface="Georgia"/>
              </a:rPr>
              <a:t>$10B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246120" cy="7620"/>
          </a:xfrm>
          <a:prstGeom prst="rect">
            <a:avLst/>
          </a:prstGeom>
          <a:solidFill>
            <a:srgbClr val="2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029968"/>
            <a:ext cx="3246120" cy="4407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  <a:latin typeface="Calibri"/>
              </a:rPr>
              <a:t>87% of employers not yet offering dedicated caregiver support. ROI of 5.3× makes the economic case unavoidable.
Benefit stack integration with existing HR tech, PBM, and TPA relationships.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55096" cy="16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E27D39"/>
                </a:solidFill>
                <a:latin typeface="Calibri"/>
              </a:rPr>
              <a:t>THE TEAM  ·  PART 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024128"/>
            <a:ext cx="3575304" cy="54864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1024128"/>
            <a:ext cx="3575304" cy="54864"/>
          </a:xfrm>
          <a:prstGeom prst="roundRect">
            <a:avLst>
              <a:gd name="adj" fmla="val 50000"/>
            </a:avLst>
          </a:prstGeom>
          <a:solidFill>
            <a:srgbClr val="EBA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9576"/>
            <a:ext cx="3246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VENTURE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Georgia"/>
              </a:rPr>
              <a:t>Suncoast Ventures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3246120" cy="7620"/>
          </a:xfrm>
          <a:prstGeom prst="rect">
            <a:avLst/>
          </a:prstGeom>
          <a:solidFill>
            <a:srgbClr val="2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4612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  <a:latin typeface="Calibri"/>
              </a:rPr>
              <a:t>21 portfolio companies across the care economy, digital health, and clinical infrastructure.
2,000+ Companies reviewed  ·  21 invested
57% sourced inbound or invite-only
3P model: Payer · Provider · Policy
Fund II thesis: infrastructure-layer companies that own the coordination and continuity layer between clinical care and the household.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024128"/>
            <a:ext cx="3575304" cy="54864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15968" y="1024128"/>
            <a:ext cx="3575304" cy="54864"/>
          </a:xfrm>
          <a:prstGeom prst="roundRect">
            <a:avLst>
              <a:gd name="adj" fmla="val 50000"/>
            </a:avLst>
          </a:prstGeom>
          <a:solidFill>
            <a:srgbClr val="E27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179576"/>
            <a:ext cx="3246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AI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38988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Georgia"/>
              </a:rPr>
              <a:t>Ohai.ai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011680"/>
            <a:ext cx="3246120" cy="7620"/>
          </a:xfrm>
          <a:prstGeom prst="rect">
            <a:avLst/>
          </a:prstGeom>
          <a:solidFill>
            <a:srgbClr val="2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103120"/>
            <a:ext cx="324612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  <a:latin typeface="Calibri"/>
              </a:rPr>
              <a:t>AI-native care coordination and continuity platform.
Founded by Sheila Marcelo — built Care.com from zero to NYSE IPO in 2014.
Generation 1 (Care.com): marketplace · demand proof
Generation 2 (Ohai.ai): coordination infrastructure
Building the operational layer between caregivers, care recipients, and the systems that serve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024128"/>
            <a:ext cx="3575304" cy="5486400"/>
          </a:xfrm>
          <a:prstGeom prst="roundRect">
            <a:avLst>
              <a:gd name="adj" fmla="val 6000"/>
            </a:avLst>
          </a:prstGeom>
          <a:solidFill>
            <a:srgbClr val="162244"/>
          </a:solidFill>
          <a:ln w="8255">
            <a:solidFill>
              <a:srgbClr val="2A3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65008" y="1024128"/>
            <a:ext cx="3575304" cy="54864"/>
          </a:xfrm>
          <a:prstGeom prst="roundRect">
            <a:avLst>
              <a:gd name="adj" fmla="val 50000"/>
            </a:avLst>
          </a:prstGeom>
          <a:solidFill>
            <a:srgbClr val="367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179576"/>
            <a:ext cx="3246120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>
                <a:solidFill>
                  <a:srgbClr val="778899"/>
                </a:solidFill>
                <a:latin typeface="Calibri"/>
              </a:rPr>
              <a:t>STRATEGY &amp; HEOR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38988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Georgia"/>
              </a:rPr>
              <a:t>Thalassea Partners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011680"/>
            <a:ext cx="3246120" cy="7620"/>
          </a:xfrm>
          <a:prstGeom prst="rect">
            <a:avLst/>
          </a:prstGeom>
          <a:solidFill>
            <a:srgbClr val="2A3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103120"/>
            <a:ext cx="324612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  <a:latin typeface="Calibri"/>
              </a:rPr>
              <a:t>Venture-adjacent strategy and health economics platform.
Cost-of-illness  ·  Budget impact  ·  Reimbursement modeling  ·  Market sizing  ·  Exit comp analysis
Builds the economic models that connect healthcare burden to reimbursement, adoption, and market formation — the substrate between science and exit.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